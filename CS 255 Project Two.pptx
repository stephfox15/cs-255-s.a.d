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27BEA2-EDF5-4E54-87D5-9D89A1337EAA}" v="4" dt="2026-08-17T01:57:32.6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62" d="100"/>
          <a:sy n="62" d="100"/>
        </p:scale>
        <p:origin x="1397" y="6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72" d="100"/>
          <a:sy n="72" d="100"/>
        </p:scale>
        <p:origin x="3010"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anie Fox" userId="98f9a09bb24fc238" providerId="LiveId" clId="{D56A18EE-4321-4650-B09C-AFE0402B9128}"/>
    <pc:docChg chg="modSld">
      <pc:chgData name="Stephanie Fox" userId="98f9a09bb24fc238" providerId="LiveId" clId="{D56A18EE-4321-4650-B09C-AFE0402B9128}" dt="2026-08-17T01:57:33.980" v="2" actId="20577"/>
      <pc:docMkLst>
        <pc:docMk/>
      </pc:docMkLst>
      <pc:sldChg chg="modSp mod">
        <pc:chgData name="Stephanie Fox" userId="98f9a09bb24fc238" providerId="LiveId" clId="{D56A18EE-4321-4650-B09C-AFE0402B9128}" dt="2026-08-17T01:37:14.469" v="1" actId="5793"/>
        <pc:sldMkLst>
          <pc:docMk/>
          <pc:sldMk cId="1865885945" sldId="260"/>
        </pc:sldMkLst>
        <pc:spChg chg="mod">
          <ac:chgData name="Stephanie Fox" userId="98f9a09bb24fc238" providerId="LiveId" clId="{D56A18EE-4321-4650-B09C-AFE0402B9128}" dt="2026-08-17T01:37:14.469" v="1" actId="5793"/>
          <ac:spMkLst>
            <pc:docMk/>
            <pc:sldMk cId="1865885945" sldId="260"/>
            <ac:spMk id="3" creationId="{00000000-0000-0000-0000-000000000000}"/>
          </ac:spMkLst>
        </pc:spChg>
      </pc:sldChg>
      <pc:sldChg chg="modNotesTx">
        <pc:chgData name="Stephanie Fox" userId="98f9a09bb24fc238" providerId="LiveId" clId="{D56A18EE-4321-4650-B09C-AFE0402B9128}" dt="2026-08-17T01:57:33.980" v="2" actId="20577"/>
        <pc:sldMkLst>
          <pc:docMk/>
          <pc:sldMk cId="3225141645"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For the functional requirements, I selected the main things DriverPass needs the system to actually do. Customers should be able to create an account, choose a training package, schedule, change, or cancel driving lessons, and take practice tests. The system also needs to keep track of lesson information and test progress. Employees need to be able to register customers, manage appointments, record lesson notes, create reports, manage accounts, and update training information when the DMV sends changes.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the nonfunctional requirements, I focused more on how the system needs to work. DriverPass needs a web-based system that can be accessed from computers and mobile devices. It also needs to protect customer information and give different levels of access depending on the user’s job. Common pages should load within about three seconds under normal conditions, and the system needs reliable storage for customer, appointment, training, and test information. </a:t>
            </a:r>
            <a:r>
              <a:rPr lang="en-US" dirty="0"/>
              <a:t>This setup keeps everything easy to access while still protecting customer information.</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diagram shows the different people and groups that will interact with DriverPass and what each one needs to be able to do.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Customers can manage their account, select a training package, schedule driving lessons, and take practice tests. The secretary can register customers and help manage appointments, while instructors can record information from driving lessons. The owner needs access to reports, and the IT officer needs to manage user accounts and access. The system also connects with the DMV so DriverPass can receive updates when rules, policies, or sample questions change. I separated these responsibilities because not every person needs access to every part of the system. This gives each person the functions they need while keeping other information restricted.  </a:t>
            </a:r>
          </a:p>
          <a:p>
            <a:br>
              <a:rPr lang="en-US" dirty="0"/>
            </a:b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diagram breaks down the process for managing a driving lesson appointment. The customer first logs in and chooses the option to manage driving lessons. They select a date and time, and the system checks whether a driver and car are available.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the appointment is not available, the customer is told that and can choose another date or time. If it is available, a driver and car are assigned, the appointment is confirmed and saved, and the customer receives confirmation. </a:t>
            </a:r>
            <a:r>
              <a:rPr lang="en-US" dirty="0"/>
              <a:t>This helps DriverPass keep track of who’s driving, which car is used, and the date and time, and it also prevents double‑booking.</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 considered security by limiting what each person can see and change in the system. Customers should only have access to their own account and training information, while employees should only have access to the parts of the system needed for their jobs. The IT officer has more control because that position is responsible for resetting, disabling, or blocking accounts when needed.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Accounts should temporarily lock after three failed login attempts, and passwords should meet basic security requirements. Customer and payment information also needs to be protected when it is stored or sent through the system. Another important part is keeping a history of appointment changes. </a:t>
            </a:r>
            <a:r>
              <a:rPr lang="en-US" sz="1200" kern="1200">
                <a:solidFill>
                  <a:schemeClr val="tx1"/>
                </a:solidFill>
                <a:effectLst/>
                <a:latin typeface="+mn-lt"/>
                <a:ea typeface="+mn-ea"/>
                <a:cs typeface="+mn-cs"/>
              </a:rPr>
              <a:t>This also helps DriverPass see who created, changed, or canceled a reservation if there is ever a problem. </a:t>
            </a:r>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system has limitations, and DriverPass is no different</a:t>
            </a:r>
            <a:r>
              <a:rPr lang="en-US" sz="1200" b="0" i="0" kern="1200" dirty="0">
                <a:solidFill>
                  <a:schemeClr val="tx1"/>
                </a:solidFill>
                <a:effectLst/>
                <a:latin typeface="+mn-lt"/>
                <a:ea typeface="+mn-ea"/>
                <a:cs typeface="+mn-cs"/>
              </a:rPr>
              <a:t>. One limitation is that users need an internet connection to make changes in the system. Reports can still be downloaded and viewed offline, but customer records, appointments, and other information should only be updated while connected so there are not different versions of the same information. The system also depends on the cloud service being available. If there is an outage, customers and employees may not be able to access the system until service is restored. DMV updates are also limited by what the DMV provides, so some changes may need to be entered manually if there is not a direct way to receive them.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DriverPass can disable a training package if it no longer wants customers to select it, but larger changes to the packages would need additional development. The current design also focuses on the features DriverPass asked for now, so any new features would need to be added in a future update.</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sv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524000" y="1293338"/>
            <a:ext cx="9144000" cy="3274592"/>
          </a:xfrm>
        </p:spPr>
        <p:txBody>
          <a:bodyPr anchor="ctr">
            <a:normAutofit/>
          </a:bodyPr>
          <a:lstStyle/>
          <a:p>
            <a:r>
              <a:rPr lang="en-US" sz="7200"/>
              <a:t>DriverPass</a:t>
            </a:r>
            <a:br>
              <a:rPr lang="en-US" sz="7200"/>
            </a:br>
            <a:r>
              <a:rPr lang="en-US" sz="7200"/>
              <a:t>System Analysis</a:t>
            </a:r>
          </a:p>
        </p:txBody>
      </p:sp>
      <p:sp>
        <p:nvSpPr>
          <p:cNvPr id="3" name="Content Placeholder 2"/>
          <p:cNvSpPr>
            <a:spLocks noGrp="1"/>
          </p:cNvSpPr>
          <p:nvPr>
            <p:ph type="subTitle" idx="1"/>
          </p:nvPr>
        </p:nvSpPr>
        <p:spPr>
          <a:xfrm>
            <a:off x="1524000" y="5514052"/>
            <a:ext cx="9144000" cy="651910"/>
          </a:xfrm>
        </p:spPr>
        <p:txBody>
          <a:bodyPr anchor="ctr">
            <a:normAutofit/>
          </a:bodyPr>
          <a:lstStyle/>
          <a:p>
            <a:r>
              <a:rPr lang="en-US"/>
              <a:t>Stephanie Fox</a:t>
            </a:r>
          </a:p>
        </p:txBody>
      </p:sp>
      <p:cxnSp>
        <p:nvCxnSpPr>
          <p:cNvPr id="37" name="Straight Connector 36">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9" name="Rectangle 12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sz="4800" kern="1200" dirty="0">
                <a:latin typeface="+mj-lt"/>
                <a:ea typeface="+mj-ea"/>
                <a:cs typeface="+mj-cs"/>
              </a:rPr>
              <a:t>System Requirements</a:t>
            </a:r>
          </a:p>
        </p:txBody>
      </p:sp>
      <p:sp>
        <p:nvSpPr>
          <p:cNvPr id="131" name="Rectangle 13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93661" y="2599509"/>
            <a:ext cx="4530898" cy="3639450"/>
          </a:xfrm>
        </p:spPr>
        <p:txBody>
          <a:bodyPr vert="horz" lIns="91440" tIns="45720" rIns="91440" bIns="45720" rtlCol="0" anchor="ctr">
            <a:normAutofit/>
          </a:bodyPr>
          <a:lstStyle/>
          <a:p>
            <a:pPr marL="0" indent="0">
              <a:buNone/>
            </a:pPr>
            <a:r>
              <a:rPr lang="en-US" sz="1900" b="1" dirty="0"/>
              <a:t>Functional Requirements</a:t>
            </a:r>
            <a:endParaRPr lang="en-US" sz="1900" dirty="0"/>
          </a:p>
          <a:p>
            <a:pPr lvl="0"/>
            <a:r>
              <a:rPr lang="en-US" sz="1900" dirty="0"/>
              <a:t>Customer accounts and training packages</a:t>
            </a:r>
          </a:p>
          <a:p>
            <a:pPr lvl="0"/>
            <a:r>
              <a:rPr lang="en-US" sz="1900" dirty="0"/>
              <a:t>Schedule, change, or cancel lessons</a:t>
            </a:r>
          </a:p>
          <a:p>
            <a:pPr lvl="0"/>
            <a:r>
              <a:rPr lang="en-US" sz="1900" dirty="0"/>
              <a:t>Practice tests and progress tracking</a:t>
            </a:r>
          </a:p>
          <a:p>
            <a:pPr lvl="0"/>
            <a:r>
              <a:rPr lang="en-US" sz="1900" dirty="0"/>
              <a:t>Reports and DMV updates</a:t>
            </a:r>
          </a:p>
          <a:p>
            <a:pPr marL="0" indent="0">
              <a:buNone/>
            </a:pPr>
            <a:r>
              <a:rPr lang="en-US" sz="1900" b="1" dirty="0"/>
              <a:t>Nonfunctional Requirements</a:t>
            </a:r>
            <a:endParaRPr lang="en-US" sz="1900" dirty="0"/>
          </a:p>
          <a:p>
            <a:pPr lvl="0"/>
            <a:r>
              <a:rPr lang="en-US" sz="1900" dirty="0"/>
              <a:t>Web and mobile access</a:t>
            </a:r>
          </a:p>
          <a:p>
            <a:pPr lvl="0"/>
            <a:r>
              <a:rPr lang="en-US" sz="1900" dirty="0"/>
              <a:t>Secure access based on user role</a:t>
            </a:r>
          </a:p>
          <a:p>
            <a:pPr lvl="0"/>
            <a:r>
              <a:rPr lang="en-US" sz="1900" dirty="0"/>
              <a:t>Reliable performance and data storage</a:t>
            </a:r>
          </a:p>
        </p:txBody>
      </p:sp>
      <p:pic>
        <p:nvPicPr>
          <p:cNvPr id="16" name="Graphic 15" descr="Blockchain with solid fill">
            <a:extLst>
              <a:ext uri="{FF2B5EF4-FFF2-40B4-BE49-F238E27FC236}">
                <a16:creationId xmlns:a16="http://schemas.microsoft.com/office/drawing/2014/main" id="{C1902D6E-C657-54BF-7EE1-A2D08639199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9548" y="2484255"/>
            <a:ext cx="3714244" cy="3714244"/>
          </a:xfrm>
          <a:prstGeom prst="rect">
            <a:avLst/>
          </a:prstGeom>
        </p:spPr>
      </p:pic>
      <p:sp>
        <p:nvSpPr>
          <p:cNvPr id="135" name="Rectangle 13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865885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54">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kern="1200" dirty="0">
                <a:solidFill>
                  <a:schemeClr val="tx1"/>
                </a:solidFill>
                <a:latin typeface="+mj-lt"/>
                <a:ea typeface="+mj-ea"/>
                <a:cs typeface="+mj-cs"/>
              </a:rPr>
              <a:t>DriverPass</a:t>
            </a:r>
          </a:p>
        </p:txBody>
      </p:sp>
      <p:sp>
        <p:nvSpPr>
          <p:cNvPr id="66" name="Rectangle 65">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6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4FDF233-3FAE-6DCD-0E16-11B120A961F4}"/>
              </a:ext>
            </a:extLst>
          </p:cNvPr>
          <p:cNvPicPr>
            <a:picLocks noChangeAspect="1"/>
          </p:cNvPicPr>
          <p:nvPr/>
        </p:nvPicPr>
        <p:blipFill>
          <a:blip r:embed="rId4"/>
          <a:stretch>
            <a:fillRect/>
          </a:stretch>
        </p:blipFill>
        <p:spPr>
          <a:xfrm>
            <a:off x="545238" y="1286601"/>
            <a:ext cx="7608304" cy="4355753"/>
          </a:xfrm>
          <a:prstGeom prst="rect">
            <a:avLst/>
          </a:prstGeom>
        </p:spPr>
      </p:pic>
      <p:sp>
        <p:nvSpPr>
          <p:cNvPr id="68" name="Rectangle 67">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13810" y="2960716"/>
            <a:ext cx="4036334" cy="2387600"/>
          </a:xfrm>
        </p:spPr>
        <p:txBody>
          <a:bodyPr vert="horz" lIns="91440" tIns="45720" rIns="91440" bIns="45720" rtlCol="0" anchor="t">
            <a:normAutofit fontScale="90000"/>
          </a:bodyPr>
          <a:lstStyle/>
          <a:p>
            <a:r>
              <a:rPr lang="en-US" sz="5400" dirty="0"/>
              <a:t>Driving Lesson Appointment</a:t>
            </a:r>
            <a:br>
              <a:rPr lang="en-US" sz="5400" dirty="0"/>
            </a:br>
            <a:endParaRPr lang="en-US" sz="5400" kern="1200" dirty="0">
              <a:solidFill>
                <a:schemeClr val="tx1"/>
              </a:solidFill>
              <a:latin typeface="+mj-lt"/>
              <a:ea typeface="+mj-ea"/>
              <a:cs typeface="+mj-cs"/>
            </a:endParaRPr>
          </a:p>
        </p:txBody>
      </p:sp>
      <p:grpSp>
        <p:nvGrpSpPr>
          <p:cNvPr id="67" name="Group 66">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68" name="Rectangle 67">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 name="Rectangle 71">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4A32D4FE-1149-F7B4-F8A5-44992F38C346}"/>
              </a:ext>
            </a:extLst>
          </p:cNvPr>
          <p:cNvPicPr>
            <a:picLocks noGrp="1" noChangeAspect="1"/>
          </p:cNvPicPr>
          <p:nvPr>
            <p:ph idx="1"/>
          </p:nvPr>
        </p:nvPicPr>
        <p:blipFill>
          <a:blip r:embed="rId4"/>
          <a:stretch>
            <a:fillRect/>
          </a:stretch>
        </p:blipFill>
        <p:spPr>
          <a:xfrm rot="16200000">
            <a:off x="5957597" y="2654909"/>
            <a:ext cx="5465791" cy="1489428"/>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FFB60E8C-7224-44A4-87A0-46A1711DD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528" y="386930"/>
            <a:ext cx="10141799" cy="1300554"/>
          </a:xfrm>
        </p:spPr>
        <p:txBody>
          <a:bodyPr anchor="b">
            <a:normAutofit/>
          </a:bodyPr>
          <a:lstStyle/>
          <a:p>
            <a:r>
              <a:rPr lang="en-US" sz="4800"/>
              <a:t>Security</a:t>
            </a:r>
          </a:p>
        </p:txBody>
      </p:sp>
      <p:sp>
        <p:nvSpPr>
          <p:cNvPr id="65" name="Rectangle 64">
            <a:extLst>
              <a:ext uri="{FF2B5EF4-FFF2-40B4-BE49-F238E27FC236}">
                <a16:creationId xmlns:a16="http://schemas.microsoft.com/office/drawing/2014/main" id="{5DA32751-37A2-45C0-BE94-63D375E270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Graphic 32" descr="Laptop Secure">
            <a:extLst>
              <a:ext uri="{FF2B5EF4-FFF2-40B4-BE49-F238E27FC236}">
                <a16:creationId xmlns:a16="http://schemas.microsoft.com/office/drawing/2014/main" id="{A404510F-7762-8A29-B075-7DFC2D69186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53311" y="2524715"/>
            <a:ext cx="3714244" cy="3714244"/>
          </a:xfrm>
          <a:prstGeom prst="rect">
            <a:avLst/>
          </a:prstGeom>
        </p:spPr>
      </p:pic>
      <p:sp>
        <p:nvSpPr>
          <p:cNvPr id="3" name="Content Placeholder 2"/>
          <p:cNvSpPr>
            <a:spLocks noGrp="1"/>
          </p:cNvSpPr>
          <p:nvPr>
            <p:ph idx="1"/>
          </p:nvPr>
        </p:nvSpPr>
        <p:spPr>
          <a:xfrm>
            <a:off x="6406429" y="2599509"/>
            <a:ext cx="4530898" cy="3639450"/>
          </a:xfrm>
        </p:spPr>
        <p:txBody>
          <a:bodyPr anchor="ctr">
            <a:normAutofit/>
          </a:bodyPr>
          <a:lstStyle/>
          <a:p>
            <a:pPr lvl="0"/>
            <a:r>
              <a:rPr lang="en-US" sz="2000"/>
              <a:t>Different access for each user role</a:t>
            </a:r>
          </a:p>
          <a:p>
            <a:pPr lvl="0"/>
            <a:r>
              <a:rPr lang="en-US" sz="2000"/>
              <a:t>Secure passwords and account lockouts</a:t>
            </a:r>
          </a:p>
          <a:p>
            <a:pPr lvl="0"/>
            <a:r>
              <a:rPr lang="en-US" sz="2000"/>
              <a:t>Protected customer and payment information</a:t>
            </a:r>
          </a:p>
          <a:p>
            <a:pPr lvl="0"/>
            <a:r>
              <a:rPr lang="en-US" sz="2000"/>
              <a:t>Password reset and account controls</a:t>
            </a:r>
          </a:p>
          <a:p>
            <a:pPr lvl="0"/>
            <a:r>
              <a:rPr lang="en-US" sz="2000"/>
              <a:t>Tracks changes made to appointments</a:t>
            </a:r>
          </a:p>
          <a:p>
            <a:pPr marL="0" indent="0">
              <a:buNone/>
            </a:pPr>
            <a:endParaRPr lang="en-US" sz="2000"/>
          </a:p>
        </p:txBody>
      </p:sp>
      <p:sp>
        <p:nvSpPr>
          <p:cNvPr id="69" name="Rectangle 68">
            <a:extLst>
              <a:ext uri="{FF2B5EF4-FFF2-40B4-BE49-F238E27FC236}">
                <a16:creationId xmlns:a16="http://schemas.microsoft.com/office/drawing/2014/main" id="{5A55FBCD-CD42-40F5-8A1B-3203F9CAE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3662" y="386930"/>
            <a:ext cx="10066122" cy="1298448"/>
          </a:xfrm>
        </p:spPr>
        <p:txBody>
          <a:bodyPr anchor="b">
            <a:normAutofit/>
          </a:bodyPr>
          <a:lstStyle/>
          <a:p>
            <a:r>
              <a:rPr lang="en-US" sz="4800"/>
              <a:t>System Limitations</a:t>
            </a:r>
          </a:p>
        </p:txBody>
      </p:sp>
      <p:sp>
        <p:nvSpPr>
          <p:cNvPr id="78" name="Rectangle 7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type="body" idx="1"/>
          </p:nvPr>
        </p:nvSpPr>
        <p:spPr>
          <a:xfrm>
            <a:off x="793661" y="2599509"/>
            <a:ext cx="4530898" cy="3639450"/>
          </a:xfrm>
        </p:spPr>
        <p:txBody>
          <a:bodyPr anchor="ctr">
            <a:normAutofit/>
          </a:bodyPr>
          <a:lstStyle/>
          <a:p>
            <a:pPr lvl="0"/>
            <a:r>
              <a:rPr lang="en-US" sz="2000" dirty="0"/>
              <a:t>Changes require an internet connection</a:t>
            </a:r>
          </a:p>
          <a:p>
            <a:pPr lvl="0"/>
            <a:r>
              <a:rPr lang="en-US" sz="2000" dirty="0"/>
              <a:t>System depends on cloud service availability</a:t>
            </a:r>
          </a:p>
          <a:p>
            <a:pPr lvl="0"/>
            <a:r>
              <a:rPr lang="en-US" sz="2000" dirty="0"/>
              <a:t>DMV updates are limited by what the DMV provides. </a:t>
            </a:r>
          </a:p>
          <a:p>
            <a:pPr lvl="0"/>
            <a:r>
              <a:rPr lang="en-US" sz="2000" dirty="0"/>
              <a:t>Major package changes require future development</a:t>
            </a:r>
          </a:p>
          <a:p>
            <a:pPr lvl="0"/>
            <a:r>
              <a:rPr lang="en-US" sz="2000" dirty="0"/>
              <a:t>Current design only includes requested features</a:t>
            </a:r>
          </a:p>
        </p:txBody>
      </p:sp>
      <p:pic>
        <p:nvPicPr>
          <p:cNvPr id="17" name="Graphic 16" descr="Deploy">
            <a:extLst>
              <a:ext uri="{FF2B5EF4-FFF2-40B4-BE49-F238E27FC236}">
                <a16:creationId xmlns:a16="http://schemas.microsoft.com/office/drawing/2014/main" id="{0CD97068-C54C-86C4-0959-F4528EDCCC2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29548" y="2484255"/>
            <a:ext cx="3714244" cy="3714244"/>
          </a:xfrm>
          <a:prstGeom prst="rect">
            <a:avLst/>
          </a:prstGeom>
        </p:spPr>
      </p:pic>
      <p:sp>
        <p:nvSpPr>
          <p:cNvPr id="82" name="Rectangle 8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0</TotalTime>
  <Words>877</Words>
  <Application>Microsoft Office PowerPoint</Application>
  <PresentationFormat>Widescreen</PresentationFormat>
  <Paragraphs>48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DriverPass</vt:lpstr>
      <vt:lpstr>Driving Lesson Appointment </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Stephanie Fox</cp:lastModifiedBy>
  <cp:revision>21</cp:revision>
  <dcterms:created xsi:type="dcterms:W3CDTF">2019-10-14T02:36:52Z</dcterms:created>
  <dcterms:modified xsi:type="dcterms:W3CDTF">2026-08-17T01:57:42Z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